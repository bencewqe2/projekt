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00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48640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Barbershop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CA9C9"/>
                </a:solidFill>
              </a:rPr>
              <a:t>Webes Foglalási és Adminisztrációs Rendszer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8DB4CC"/>
                </a:solidFill>
              </a:rPr>
              <a:t>Készítette: Németh Bence, Mesteri Tibor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5029200" cy="4572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Node.js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31720" y="333756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0"/>
          <p:cNvSpPr/>
          <p:nvPr/>
        </p:nvSpPr>
        <p:spPr>
          <a:xfrm>
            <a:off x="2331720" y="33375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33756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4206240" y="33375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Prisma ORM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88620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4"/>
          <p:cNvSpPr/>
          <p:nvPr/>
        </p:nvSpPr>
        <p:spPr>
          <a:xfrm>
            <a:off x="457200" y="38862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MariaDB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31720" y="388620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/>
          <p:nvPr/>
        </p:nvSpPr>
        <p:spPr>
          <a:xfrm>
            <a:off x="2331720" y="38862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EJS Templates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3886200"/>
            <a:ext cx="1719072" cy="402336"/>
          </a:xfrm>
          <a:prstGeom prst="rect">
            <a:avLst/>
          </a:prstGeom>
          <a:solidFill>
            <a:srgbClr val="1B3A5C"/>
          </a:solidFill>
          <a:ln w="15240">
            <a:solidFill>
              <a:srgbClr val="1CA9C9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8"/>
          <p:cNvSpPr/>
          <p:nvPr/>
        </p:nvSpPr>
        <p:spPr>
          <a:xfrm>
            <a:off x="4206240" y="38862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8FF"/>
                </a:solidFill>
              </a:rPr>
              <a:t>Playwright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1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hátter</a:t>
            </a:r>
            <a:r>
              <a:rPr lang="hu-HU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623"/>
                </a:solidFill>
              </a:rPr>
              <a:t>Miért készült el?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0F8FF"/>
                </a:solidFill>
              </a:rPr>
              <a:t>A legtöbb borbélyszalon ma is telefonon vagy személyesen fogad időpontokat. Ez lassú, hibalehetőségekkel teli és nem skálázható megoldás.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0F8FF"/>
                </a:solidFill>
              </a:rPr>
              <a:t>A Beach Barbershop projekt erre kínál modern digitális alternatívát: az ügyfelek 0–24 órában foglalhatnak, a személyzet valós időben látja a naptárat, az adminisztrátor pedig teljes körű kontrollt kap a rendszer felett.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0F8FF"/>
                </a:solidFill>
              </a:rPr>
              <a:t>A fejlesztés célja egyben egy valós, produkciókész webalkalmazás elkészítése, amely megfelel a modern szoftverfejlesztési elvárásoknak.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56048" y="1005840"/>
            <a:ext cx="1874520" cy="17373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956048" y="1005840"/>
            <a:ext cx="64008" cy="173736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956048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A9C9"/>
                </a:solidFill>
              </a:rPr>
              <a:t>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956048" y="18745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Felhasználói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szerepkör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2350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ügyfél, </a:t>
            </a:r>
            <a:r>
              <a:rPr lang="hu-HU" sz="1000" i="1" dirty="0">
                <a:solidFill>
                  <a:srgbClr val="8DB4CC"/>
                </a:solidFill>
              </a:rPr>
              <a:t>borbély</a:t>
            </a:r>
            <a:r>
              <a:rPr lang="en-US" sz="1000" i="1" dirty="0">
                <a:solidFill>
                  <a:srgbClr val="8DB4CC"/>
                </a:solidFill>
              </a:rPr>
              <a:t>, 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86016" y="1005840"/>
            <a:ext cx="1874520" cy="17373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986016" y="1005840"/>
            <a:ext cx="64008" cy="173736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986016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200" b="1" dirty="0">
                <a:solidFill>
                  <a:srgbClr val="F4A623"/>
                </a:solidFill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86016" y="18745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Fő adatbázis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tábla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18020" y="2350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i="1" dirty="0" err="1">
                <a:solidFill>
                  <a:srgbClr val="8DB4CC"/>
                </a:solidFill>
              </a:rPr>
              <a:t>felhasznalok</a:t>
            </a:r>
            <a:r>
              <a:rPr lang="hu-HU" sz="1000" i="1" dirty="0">
                <a:solidFill>
                  <a:srgbClr val="8DB4CC"/>
                </a:solidFill>
              </a:rPr>
              <a:t>, </a:t>
            </a:r>
            <a:r>
              <a:rPr lang="hu-HU" sz="1000" i="1" dirty="0" err="1">
                <a:solidFill>
                  <a:srgbClr val="8DB4CC"/>
                </a:solidFill>
              </a:rPr>
              <a:t>idopont</a:t>
            </a:r>
            <a:r>
              <a:rPr lang="hu-HU" sz="1000" i="1" dirty="0">
                <a:solidFill>
                  <a:srgbClr val="8DB4CC"/>
                </a:solidFill>
              </a:rPr>
              <a:t>, </a:t>
            </a:r>
            <a:r>
              <a:rPr lang="hu-HU" sz="1000" i="1" dirty="0" err="1">
                <a:solidFill>
                  <a:srgbClr val="8DB4CC"/>
                </a:solidFill>
              </a:rPr>
              <a:t>rendeles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56048" y="2999232"/>
            <a:ext cx="1874520" cy="17373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4956048" y="2999232"/>
            <a:ext cx="64008" cy="173736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956048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A9C9"/>
                </a:solidFill>
              </a:rPr>
              <a:t>21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956048" y="3867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Git commit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a fejlesztés során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4343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verziókezelt, nyomkövetett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86016" y="2999232"/>
            <a:ext cx="1874520" cy="17373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6986016" y="2999232"/>
            <a:ext cx="64008" cy="173736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6986016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A623"/>
                </a:solidFill>
              </a:rPr>
              <a:t>6+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986016" y="3867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Automatizált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8FF"/>
                </a:solidFill>
              </a:rPr>
              <a:t>E2E teszt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4343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Playwright keretrendszerrel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2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 szerepkörök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B4CC"/>
                </a:solidFill>
              </a:rPr>
              <a:t>Ki mit lát és mit tehet a rendszerben?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88920" cy="385876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788920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097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1664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A9C9"/>
                </a:solidFill>
              </a:rPr>
              <a:t>Ügyfél (user)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" y="2139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Regisztráció e-mail és jelszó megadásával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" y="2560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Bejelentkezés, saját profil kezelése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0624" y="298094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Elérhető időpontok böngészése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0624" y="34015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Időpont foglalása, módosítása, lemondása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0624" y="38221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Saját foglalások előzményeinek megtekintése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20624" y="42428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Elérhető szolgáltatások és árak megtekintése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1005840"/>
            <a:ext cx="2788920" cy="385876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4"/>
          <p:cNvSpPr/>
          <p:nvPr/>
        </p:nvSpPr>
        <p:spPr>
          <a:xfrm>
            <a:off x="3200400" y="1005840"/>
            <a:ext cx="2788920" cy="7315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0972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1664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4A623"/>
                </a:solidFill>
              </a:rPr>
              <a:t>Személyzet</a:t>
            </a:r>
            <a:r>
              <a:rPr lang="en-US" sz="1400" b="1" dirty="0">
                <a:solidFill>
                  <a:srgbClr val="F4A623"/>
                </a:solidFill>
              </a:rPr>
              <a:t> (</a:t>
            </a:r>
            <a:r>
              <a:rPr lang="hu-HU" sz="1400" b="1" dirty="0">
                <a:solidFill>
                  <a:srgbClr val="F4A623"/>
                </a:solidFill>
              </a:rPr>
              <a:t>borbély</a:t>
            </a:r>
            <a:r>
              <a:rPr lang="en-US" sz="1400" b="1" dirty="0">
                <a:solidFill>
                  <a:srgbClr val="F4A623"/>
                </a:solidFill>
              </a:rPr>
              <a:t>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364992" y="2139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Saját naptár és beosztás megtekintése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364992" y="2560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Közelgő foglalások listázása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364992" y="298094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Foglalás státuszának frissítése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364992" y="34015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364992" y="33995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Munkaidő és elérhetőség szerkesztése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364992" y="382905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Értesítések fogadása új foglalásoknál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144768" y="1005840"/>
            <a:ext cx="2788920" cy="385876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23"/>
          <p:cNvSpPr/>
          <p:nvPr/>
        </p:nvSpPr>
        <p:spPr>
          <a:xfrm>
            <a:off x="6144768" y="1005840"/>
            <a:ext cx="2788920" cy="7315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09728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44768" y="16642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A9C9"/>
                </a:solidFill>
              </a:rPr>
              <a:t>Adminisztrátor (admin)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09360" y="213969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Teljes felhasználókezelés (CRUD)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309360" y="2560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Összes foglalás jóváhagyása / elutasítása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309360" y="298094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Szolgáltatások és árak szerkesztése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309360" y="34015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Személyzet hozzáadása, eltávolítása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309360" y="38221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Rendszerbeállítások és statisztikák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309360" y="42428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</a:rPr>
              <a:t>▸  Jogosultság-kiosztás más felhasználóknak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3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Technológiai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43200" cy="3611880"/>
          </a:xfrm>
          <a:prstGeom prst="rect">
            <a:avLst/>
          </a:prstGeom>
          <a:solidFill>
            <a:srgbClr val="112233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43200" cy="82296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15568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21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9C9"/>
                </a:solidFill>
              </a:rPr>
              <a:t>Frontend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38912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EJS – szerver oldali HTML renderelés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32735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CSS3 – reszponzív, mobilbarát design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389534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Vanilla JS – kliensoldali interakciók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18688" y="1024128"/>
            <a:ext cx="2743200" cy="3611880"/>
          </a:xfrm>
          <a:prstGeom prst="rect">
            <a:avLst/>
          </a:prstGeom>
          <a:solidFill>
            <a:srgbClr val="112233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3218688" y="1024128"/>
            <a:ext cx="2743200" cy="82296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1115568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18688" y="2121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A623"/>
                </a:solidFill>
              </a:rPr>
              <a:t>Backend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383280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Node.js – szerver futtatókörnyezet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32735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Express.js – routing és middleware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83280" y="389534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REST API végpontok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63056" y="1024128"/>
            <a:ext cx="2743200" cy="3611880"/>
          </a:xfrm>
          <a:prstGeom prst="rect">
            <a:avLst/>
          </a:prstGeom>
          <a:solidFill>
            <a:srgbClr val="112233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6"/>
          <p:cNvSpPr/>
          <p:nvPr/>
        </p:nvSpPr>
        <p:spPr>
          <a:xfrm>
            <a:off x="6163056" y="1024128"/>
            <a:ext cx="2743200" cy="82296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1115568"/>
            <a:ext cx="914400" cy="914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3056" y="2121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9C9"/>
                </a:solidFill>
              </a:rPr>
              <a:t>Adatbázis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32764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MariaDB – MySQL kompatibilis RDBMS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27648" y="32735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Prisma ORM – típusbiztos lekérdezés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27648" y="389534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8FF"/>
                </a:solidFill>
              </a:rPr>
              <a:t>▸  SQL migráció és séma szinkron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Forráskód megoszlás a repóban: 40.8% EJS  •  30.9% JavaScript  •  28.3% CSS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4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8FF"/>
                </a:solidFill>
                <a:latin typeface="Calibri" pitchFamily="34" charset="0"/>
              </a:rPr>
              <a:t>Regisztráció – Jelszóhashing és adatmentés</a:t>
            </a:r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i="1" dirty="0">
                <a:solidFill>
                  <a:srgbClr val="8DB4CC"/>
                </a:solidFill>
              </a:rPr>
              <a:t>Hogyan kerül biztonságosan az adatbázisba a felhasználó jelszava?</a:t>
            </a:r>
          </a:p>
        </p:txBody>
      </p:sp>
      <p:sp>
        <p:nvSpPr>
          <p:cNvPr id="6" name="CodeBg"/>
          <p:cNvSpPr/>
          <p:nvPr/>
        </p:nvSpPr>
        <p:spPr>
          <a:xfrm>
            <a:off x="320040" y="1005840"/>
            <a:ext cx="5120640" cy="3840480"/>
          </a:xfrm>
          <a:prstGeom prst="roundRect">
            <a:avLst>
              <a:gd name="adj" fmla="val 30000"/>
            </a:avLst>
          </a:prstGeom>
          <a:solidFill>
            <a:srgbClr val="1A2535"/>
          </a:solidFill>
          <a:ln w="19050">
            <a:solidFill>
              <a:srgbClr val="1CA9C9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7" name="CodeComment"/>
          <p:cNvSpPr/>
          <p:nvPr/>
        </p:nvSpPr>
        <p:spPr>
          <a:xfrm>
            <a:off x="982700" y="20583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66"/>
                </a:solidFill>
                <a:latin typeface="Consolas" pitchFamily="34" charset="0"/>
              </a:rPr>
              <a:t>// POST /register – új felhasználó regisztrációja</a:t>
            </a:r>
          </a:p>
        </p:txBody>
      </p:sp>
      <p:sp>
        <p:nvSpPr>
          <p:cNvPr id="8" name="CodeText"/>
          <p:cNvSpPr/>
          <p:nvPr/>
        </p:nvSpPr>
        <p:spPr>
          <a:xfrm>
            <a:off x="978168" y="2431440"/>
            <a:ext cx="4754880" cy="315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A9C9"/>
                </a:solidFill>
                <a:latin typeface="Consolas" pitchFamily="34" charset="0"/>
              </a:rPr>
              <a:t>app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.post(</a:t>
            </a:r>
            <a:r>
              <a:rPr lang="en-US" sz="1150" dirty="0">
                <a:solidFill>
                  <a:srgbClr val="F4A623"/>
                </a:solidFill>
                <a:latin typeface="Consolas" pitchFamily="34" charset="0"/>
              </a:rPr>
              <a:t>'/register'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, async (req, res) =&gt; {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const { felhnev, email, jelszo } = req.body;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const hash = await </a:t>
            </a:r>
            <a:r>
              <a:rPr lang="en-US" sz="1150" dirty="0">
                <a:solidFill>
                  <a:srgbClr val="1CA9C9"/>
                </a:solidFill>
                <a:latin typeface="Consolas" pitchFamily="34" charset="0"/>
              </a:rPr>
              <a:t>bcrypt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.hash(jelszo, </a:t>
            </a:r>
            <a:r>
              <a:rPr lang="en-US" sz="1150" dirty="0">
                <a:solidFill>
                  <a:srgbClr val="F4A623"/>
                </a:solidFill>
                <a:latin typeface="Consolas" pitchFamily="34" charset="0"/>
              </a:rPr>
              <a:t>10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);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await </a:t>
            </a:r>
            <a:r>
              <a:rPr lang="en-US" sz="1150" dirty="0">
                <a:solidFill>
                  <a:srgbClr val="1CA9C9"/>
                </a:solidFill>
                <a:latin typeface="Consolas" pitchFamily="34" charset="0"/>
              </a:rPr>
              <a:t>prisma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.felhasznalok.create({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  data: { felhnev, email, hash }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});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  res.redirect(</a:t>
            </a:r>
            <a:r>
              <a:rPr lang="en-US" sz="1150" dirty="0">
                <a:solidFill>
                  <a:srgbClr val="F4A623"/>
                </a:solidFill>
                <a:latin typeface="Consolas" pitchFamily="34" charset="0"/>
              </a:rPr>
              <a:t>'/login'</a:t>
            </a: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);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8FF"/>
                </a:solidFill>
                <a:latin typeface="Consolas" pitchFamily="34" charset="0"/>
              </a:rPr>
              <a:t>});</a:t>
            </a:r>
          </a:p>
        </p:txBody>
      </p:sp>
      <p:sp>
        <p:nvSpPr>
          <p:cNvPr id="20" name="Card1Bg"/>
          <p:cNvSpPr/>
          <p:nvPr/>
        </p:nvSpPr>
        <p:spPr>
          <a:xfrm>
            <a:off x="5669040" y="1005840"/>
            <a:ext cx="3200400" cy="115824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1" name="Card1Accent"/>
          <p:cNvSpPr/>
          <p:nvPr/>
        </p:nvSpPr>
        <p:spPr>
          <a:xfrm>
            <a:off x="5669040" y="1005840"/>
            <a:ext cx="64008" cy="115824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2" name="Card1Text"/>
          <p:cNvSpPr/>
          <p:nvPr/>
        </p:nvSpPr>
        <p:spPr>
          <a:xfrm>
            <a:off x="5806440" y="1041480"/>
            <a:ext cx="3008520" cy="1086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</a:rPr>
              <a:t>bcrypt.hash(jelszo, 10)</a:t>
            </a:r>
          </a:p>
          <a:p>
            <a:pPr marL="0" indent="0">
              <a:buNone/>
            </a:pPr>
            <a:r>
              <a:rPr lang="hu-HU" sz="1050" dirty="0">
                <a:solidFill>
                  <a:srgbClr val="F0F8FF"/>
                </a:solidFill>
              </a:rPr>
              <a:t>A jelszót soha nem plain textként tároljuk. A </a:t>
            </a:r>
            <a:r>
              <a:rPr lang="en-US" sz="1050" b="1" dirty="0">
                <a:solidFill>
                  <a:srgbClr val="F4A623"/>
                </a:solidFill>
              </a:rPr>
              <a:t>10</a:t>
            </a:r>
            <a:r>
              <a:rPr lang="hu-HU" sz="1050" dirty="0">
                <a:solidFill>
                  <a:srgbClr val="F0F8FF"/>
                </a:solidFill>
              </a:rPr>
              <a:t> a salt rounds száma – minél nagyobb, annál nehezebb feltörni.</a:t>
            </a:r>
          </a:p>
        </p:txBody>
      </p:sp>
      <p:sp>
        <p:nvSpPr>
          <p:cNvPr id="30" name="Card2Bg"/>
          <p:cNvSpPr/>
          <p:nvPr/>
        </p:nvSpPr>
        <p:spPr>
          <a:xfrm>
            <a:off x="5669040" y="2218320"/>
            <a:ext cx="3200400" cy="115824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1" name="Card2Accent"/>
          <p:cNvSpPr/>
          <p:nvPr/>
        </p:nvSpPr>
        <p:spPr>
          <a:xfrm>
            <a:off x="5669040" y="2218320"/>
            <a:ext cx="64008" cy="115824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2" name="Card2Text"/>
          <p:cNvSpPr/>
          <p:nvPr/>
        </p:nvSpPr>
        <p:spPr>
          <a:xfrm>
            <a:off x="5806440" y="2253960"/>
            <a:ext cx="3008520" cy="1086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</a:rPr>
              <a:t>prisma.felhasznalok.create()</a:t>
            </a:r>
          </a:p>
          <a:p>
            <a:pPr marL="0" indent="0">
              <a:buNone/>
            </a:pPr>
            <a:r>
              <a:rPr lang="hu-HU" sz="1050" dirty="0">
                <a:solidFill>
                  <a:srgbClr val="F0F8FF"/>
                </a:solidFill>
              </a:rPr>
              <a:t>A Prisma ORM típusbiztos módon menti az adatokat. Nem írunk SQL-t kézzel – a Prisma generálja a lekérdezést.</a:t>
            </a:r>
          </a:p>
        </p:txBody>
      </p:sp>
      <p:sp>
        <p:nvSpPr>
          <p:cNvPr id="40" name="Card3Bg"/>
          <p:cNvSpPr/>
          <p:nvPr/>
        </p:nvSpPr>
        <p:spPr>
          <a:xfrm>
            <a:off x="5669040" y="3430800"/>
            <a:ext cx="3200400" cy="115824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1" name="Card3Accent"/>
          <p:cNvSpPr/>
          <p:nvPr/>
        </p:nvSpPr>
        <p:spPr>
          <a:xfrm>
            <a:off x="5669040" y="3430800"/>
            <a:ext cx="64008" cy="115824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2" name="Card3Text"/>
          <p:cNvSpPr/>
          <p:nvPr/>
        </p:nvSpPr>
        <p:spPr>
          <a:xfrm>
            <a:off x="5806440" y="3466440"/>
            <a:ext cx="3008520" cy="1086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</a:rPr>
              <a:t>async / await</a:t>
            </a:r>
          </a:p>
          <a:p>
            <a:pPr marL="0" indent="0">
              <a:buNone/>
            </a:pPr>
            <a:r>
              <a:rPr lang="hu-HU" sz="1050" dirty="0">
                <a:solidFill>
                  <a:srgbClr val="F0F8FF"/>
                </a:solidFill>
              </a:rPr>
              <a:t>A hash-elés és az adatmentés aszinkron műveletek. Az await megvárja a befejezésüket, mielőtt átirányít.</a:t>
            </a:r>
          </a:p>
        </p:txBody>
      </p:sp>
      <p:sp>
        <p:nvSpPr>
          <p:cNvPr id="99" name="SlideNum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5 / 13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struktúra – Prisma ORM + MariaDB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B4CC"/>
                </a:solidFill>
              </a:rPr>
              <a:t>A sémát a schema.prisma fájl definiálja – Prisma szinkronizálja az adatbázissal.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572768"/>
            <a:ext cx="4206240" cy="155448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8" name="Shape 5"/>
          <p:cNvSpPr/>
          <p:nvPr/>
        </p:nvSpPr>
        <p:spPr>
          <a:xfrm>
            <a:off x="274320" y="1572768"/>
            <a:ext cx="64008" cy="155448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420624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b="1" dirty="0" err="1">
                <a:solidFill>
                  <a:srgbClr val="1CA9C9"/>
                </a:solidFill>
              </a:rPr>
              <a:t>felhasznalok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8912" y="1993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id  (INT, PK, auto)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8912" y="2221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felhnev</a:t>
            </a:r>
            <a:r>
              <a:rPr lang="en-US" sz="1050" dirty="0">
                <a:solidFill>
                  <a:srgbClr val="F0F8FF"/>
                </a:solidFill>
              </a:rPr>
              <a:t>  (VARCHAR 100)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38912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email  (VARCHAR, UNIQUE)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50592" y="1993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hash</a:t>
            </a:r>
            <a:r>
              <a:rPr lang="en-US" sz="1050" dirty="0">
                <a:solidFill>
                  <a:srgbClr val="F0F8FF"/>
                </a:solidFill>
              </a:rPr>
              <a:t>  (BCRYPT HASH)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50592" y="2221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role  (ENUM: user/staff/admin)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36592" y="1572768"/>
            <a:ext cx="4206240" cy="155448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4"/>
          <p:cNvSpPr/>
          <p:nvPr/>
        </p:nvSpPr>
        <p:spPr>
          <a:xfrm>
            <a:off x="4736592" y="1572768"/>
            <a:ext cx="64008" cy="155448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8" name="Shape 15"/>
          <p:cNvSpPr/>
          <p:nvPr/>
        </p:nvSpPr>
        <p:spPr>
          <a:xfrm>
            <a:off x="4736592" y="1572768"/>
            <a:ext cx="420624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/>
          <p:nvPr/>
        </p:nvSpPr>
        <p:spPr>
          <a:xfrm>
            <a:off x="4901184" y="1609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b="1" dirty="0" err="1">
                <a:solidFill>
                  <a:srgbClr val="F4A623"/>
                </a:solidFill>
              </a:rPr>
              <a:t>idopont</a:t>
            </a:r>
            <a:endParaRPr lang="hu-HU" sz="1400" b="1" dirty="0">
              <a:solidFill>
                <a:srgbClr val="F4A623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901184" y="1993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id  (INT, PK, auto)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01184" y="2221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felhasz</a:t>
            </a:r>
            <a:r>
              <a:rPr lang="en-US" sz="1050" dirty="0">
                <a:solidFill>
                  <a:srgbClr val="F0F8FF"/>
                </a:solidFill>
              </a:rPr>
              <a:t>Id  (FK → </a:t>
            </a:r>
            <a:r>
              <a:rPr lang="hu-HU" sz="1050" dirty="0" err="1">
                <a:solidFill>
                  <a:srgbClr val="F0F8FF"/>
                </a:solidFill>
              </a:rPr>
              <a:t>felhasznalok</a:t>
            </a:r>
            <a:r>
              <a:rPr lang="en-US" sz="1050" dirty="0">
                <a:solidFill>
                  <a:srgbClr val="F0F8FF"/>
                </a:solidFill>
              </a:rPr>
              <a:t>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01184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szolgal</a:t>
            </a:r>
            <a:r>
              <a:rPr lang="hu-HU" sz="1050" dirty="0">
                <a:solidFill>
                  <a:srgbClr val="F0F8FF"/>
                </a:solidFill>
              </a:rPr>
              <a:t> (VARCHAR 50)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912864" y="1993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idopont</a:t>
            </a:r>
            <a:r>
              <a:rPr lang="en-US" sz="1050" dirty="0">
                <a:solidFill>
                  <a:srgbClr val="F0F8FF"/>
                </a:solidFill>
              </a:rPr>
              <a:t>  (DATE</a:t>
            </a:r>
            <a:r>
              <a:rPr lang="hu-HU" sz="1050" dirty="0">
                <a:solidFill>
                  <a:srgbClr val="F0F8FF"/>
                </a:solidFill>
              </a:rPr>
              <a:t>TIME</a:t>
            </a:r>
            <a:r>
              <a:rPr lang="en-US" sz="1050" dirty="0">
                <a:solidFill>
                  <a:srgbClr val="F0F8FF"/>
                </a:solidFill>
              </a:rPr>
              <a:t>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12864" y="2221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12864" y="2518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50793" y="3320857"/>
            <a:ext cx="4206240" cy="155448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24"/>
          <p:cNvSpPr/>
          <p:nvPr/>
        </p:nvSpPr>
        <p:spPr>
          <a:xfrm>
            <a:off x="2606040" y="3300984"/>
            <a:ext cx="64008" cy="155448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8" name="Shape 25"/>
          <p:cNvSpPr/>
          <p:nvPr/>
        </p:nvSpPr>
        <p:spPr>
          <a:xfrm>
            <a:off x="2606040" y="3300984"/>
            <a:ext cx="420624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9" name="Text 26"/>
          <p:cNvSpPr/>
          <p:nvPr/>
        </p:nvSpPr>
        <p:spPr>
          <a:xfrm>
            <a:off x="2770632" y="3337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b="1" dirty="0" err="1">
                <a:solidFill>
                  <a:srgbClr val="1CA9C9"/>
                </a:solidFill>
              </a:rPr>
              <a:t>rendeles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770632" y="3721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id  (INT, PK, auto)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770632" y="3950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>
                <a:solidFill>
                  <a:srgbClr val="F0F8FF"/>
                </a:solidFill>
              </a:rPr>
              <a:t>felhaszid</a:t>
            </a:r>
            <a:r>
              <a:rPr lang="en-US" sz="1050" dirty="0">
                <a:solidFill>
                  <a:srgbClr val="F0F8FF"/>
                </a:solidFill>
              </a:rPr>
              <a:t>  (</a:t>
            </a:r>
            <a:r>
              <a:rPr lang="hu-HU" sz="1050" dirty="0">
                <a:solidFill>
                  <a:srgbClr val="F0F8FF"/>
                </a:solidFill>
              </a:rPr>
              <a:t>FK </a:t>
            </a:r>
            <a:r>
              <a:rPr lang="en-US" sz="1050" dirty="0">
                <a:solidFill>
                  <a:srgbClr val="F0F8FF"/>
                </a:solidFill>
              </a:rPr>
              <a:t>→</a:t>
            </a:r>
            <a:r>
              <a:rPr lang="hu-HU" sz="1050" dirty="0">
                <a:solidFill>
                  <a:srgbClr val="F0F8FF"/>
                </a:solidFill>
              </a:rPr>
              <a:t> </a:t>
            </a:r>
            <a:r>
              <a:rPr lang="hu-HU" sz="1050" dirty="0" err="1">
                <a:solidFill>
                  <a:srgbClr val="F0F8FF"/>
                </a:solidFill>
              </a:rPr>
              <a:t>felhasznalok</a:t>
            </a:r>
            <a:r>
              <a:rPr lang="hu-HU" sz="1050" dirty="0">
                <a:solidFill>
                  <a:srgbClr val="F0F8FF"/>
                </a:solidFill>
              </a:rPr>
              <a:t> </a:t>
            </a:r>
            <a:r>
              <a:rPr lang="en-US" sz="1050" dirty="0">
                <a:solidFill>
                  <a:srgbClr val="F0F8FF"/>
                </a:solidFill>
              </a:rPr>
              <a:t>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770632" y="4178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products</a:t>
            </a:r>
            <a:r>
              <a:rPr lang="hu-HU" sz="1050" dirty="0">
                <a:solidFill>
                  <a:srgbClr val="F0F8FF"/>
                </a:solidFill>
              </a:rPr>
              <a:t> </a:t>
            </a:r>
            <a:r>
              <a:rPr lang="en-US" sz="1050" dirty="0">
                <a:solidFill>
                  <a:srgbClr val="F0F8FF"/>
                </a:solidFill>
              </a:rPr>
              <a:t>(</a:t>
            </a:r>
            <a:r>
              <a:rPr lang="hu-HU" sz="1050" dirty="0">
                <a:solidFill>
                  <a:srgbClr val="F0F8FF"/>
                </a:solidFill>
              </a:rPr>
              <a:t>LONG</a:t>
            </a:r>
            <a:r>
              <a:rPr lang="en-US" sz="1050" dirty="0">
                <a:solidFill>
                  <a:srgbClr val="F0F8FF"/>
                </a:solidFill>
              </a:rPr>
              <a:t>TEXT)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68596" y="394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totalP</a:t>
            </a:r>
            <a:r>
              <a:rPr lang="en-US" sz="1050" dirty="0">
                <a:solidFill>
                  <a:srgbClr val="F0F8FF"/>
                </a:solidFill>
              </a:rPr>
              <a:t>rice  (</a:t>
            </a:r>
            <a:r>
              <a:rPr lang="hu-HU" sz="1050" dirty="0">
                <a:solidFill>
                  <a:srgbClr val="F0F8FF"/>
                </a:solidFill>
              </a:rPr>
              <a:t>INT</a:t>
            </a:r>
            <a:r>
              <a:rPr lang="en-US" sz="1050" dirty="0">
                <a:solidFill>
                  <a:srgbClr val="F0F8FF"/>
                </a:solidFill>
              </a:rPr>
              <a:t>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778231" y="4178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rgbClr val="F0F8FF"/>
                </a:solidFill>
              </a:rPr>
              <a:t>createdAt</a:t>
            </a:r>
            <a:r>
              <a:rPr lang="en-US" sz="1050" dirty="0">
                <a:solidFill>
                  <a:srgbClr val="F0F8FF"/>
                </a:solidFill>
              </a:rPr>
              <a:t>  (</a:t>
            </a:r>
            <a:r>
              <a:rPr lang="hu-HU" sz="1050" dirty="0">
                <a:solidFill>
                  <a:srgbClr val="F0F8FF"/>
                </a:solidFill>
              </a:rPr>
              <a:t>DATETIME</a:t>
            </a:r>
            <a:r>
              <a:rPr lang="en-US" sz="1050" dirty="0">
                <a:solidFill>
                  <a:srgbClr val="F0F8FF"/>
                </a:solidFill>
              </a:rPr>
              <a:t>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901184" y="33741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hu-HU" sz="1400" b="1" dirty="0">
              <a:solidFill>
                <a:srgbClr val="F4A623"/>
              </a:solidFill>
            </a:endParaRPr>
          </a:p>
        </p:txBody>
      </p:sp>
      <p:sp>
        <p:nvSpPr>
          <p:cNvPr id="39" name="Text 36"/>
          <p:cNvSpPr/>
          <p:nvPr/>
        </p:nvSpPr>
        <p:spPr>
          <a:xfrm>
            <a:off x="4901184" y="3758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901184" y="3986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901184" y="4215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912864" y="3758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912864" y="3986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6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0B1F58EA-8D87-4B2A-ABE2-BF1335600986}"/>
              </a:ext>
            </a:extLst>
          </p:cNvPr>
          <p:cNvSpPr txBox="1"/>
          <p:nvPr/>
        </p:nvSpPr>
        <p:spPr>
          <a:xfrm>
            <a:off x="4114800" y="21145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4ACB9A43-A243-4762-98AA-7851E8137EE9}"/>
              </a:ext>
            </a:extLst>
          </p:cNvPr>
          <p:cNvSpPr txBox="1"/>
          <p:nvPr/>
        </p:nvSpPr>
        <p:spPr>
          <a:xfrm>
            <a:off x="338328" y="2679192"/>
            <a:ext cx="2212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0F8FF"/>
                </a:solidFill>
              </a:rPr>
              <a:t>• </a:t>
            </a:r>
            <a:r>
              <a:rPr lang="hu-HU" sz="1100" dirty="0">
                <a:solidFill>
                  <a:srgbClr val="F0F8FF"/>
                </a:solidFill>
              </a:rPr>
              <a:t>telefonszam</a:t>
            </a:r>
            <a:r>
              <a:rPr lang="en-US" sz="1100" dirty="0">
                <a:solidFill>
                  <a:srgbClr val="F0F8FF"/>
                </a:solidFill>
              </a:rPr>
              <a:t>  (</a:t>
            </a:r>
            <a:r>
              <a:rPr lang="en-US" sz="1050" dirty="0">
                <a:solidFill>
                  <a:srgbClr val="F0F8FF"/>
                </a:solidFill>
              </a:rPr>
              <a:t>VARCHAR</a:t>
            </a:r>
            <a:r>
              <a:rPr lang="en-US" sz="1100" dirty="0">
                <a:solidFill>
                  <a:srgbClr val="F0F8FF"/>
                </a:solidFill>
              </a:rPr>
              <a:t>, UNIQUE)</a:t>
            </a:r>
            <a:endParaRPr lang="en-US" sz="1100" dirty="0"/>
          </a:p>
          <a:p>
            <a:endParaRPr lang="hu-HU" sz="1100" dirty="0"/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8F9C14E7-7E9A-4214-84F2-8C33896D31DF}"/>
              </a:ext>
            </a:extLst>
          </p:cNvPr>
          <p:cNvSpPr txBox="1"/>
          <p:nvPr/>
        </p:nvSpPr>
        <p:spPr>
          <a:xfrm>
            <a:off x="2687194" y="4138991"/>
            <a:ext cx="1989961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>
              <a:solidFill>
                <a:srgbClr val="F0F8FF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•</a:t>
            </a:r>
            <a:r>
              <a:rPr lang="hu-HU" sz="1050" dirty="0">
                <a:solidFill>
                  <a:schemeClr val="bg1"/>
                </a:solidFill>
              </a:rPr>
              <a:t> </a:t>
            </a:r>
            <a:r>
              <a:rPr lang="hu-HU" sz="1050" dirty="0" err="1">
                <a:solidFill>
                  <a:schemeClr val="bg1"/>
                </a:solidFill>
              </a:rPr>
              <a:t>address</a:t>
            </a:r>
            <a:r>
              <a:rPr lang="hu-HU" sz="1050" dirty="0">
                <a:solidFill>
                  <a:schemeClr val="bg1"/>
                </a:solidFill>
              </a:rPr>
              <a:t> </a:t>
            </a:r>
            <a:r>
              <a:rPr lang="en-US" sz="1050" dirty="0">
                <a:solidFill>
                  <a:schemeClr val="bg1"/>
                </a:solidFill>
              </a:rPr>
              <a:t>(</a:t>
            </a:r>
            <a:r>
              <a:rPr lang="hu-HU" sz="1050" dirty="0">
                <a:solidFill>
                  <a:schemeClr val="bg1"/>
                </a:solidFill>
              </a:rPr>
              <a:t>LONGTEXT</a:t>
            </a:r>
            <a:r>
              <a:rPr lang="en-US" sz="1050" dirty="0">
                <a:solidFill>
                  <a:schemeClr val="bg1"/>
                </a:solidFill>
              </a:rPr>
              <a:t>)</a:t>
            </a:r>
            <a:endParaRPr lang="hu-HU" sz="1050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E84A3ADF-DC90-437E-9554-AEC3BBFD4B6D}"/>
              </a:ext>
            </a:extLst>
          </p:cNvPr>
          <p:cNvSpPr txBox="1"/>
          <p:nvPr/>
        </p:nvSpPr>
        <p:spPr>
          <a:xfrm>
            <a:off x="4677156" y="3712006"/>
            <a:ext cx="16546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0F8FF"/>
                </a:solidFill>
              </a:rPr>
              <a:t>• </a:t>
            </a:r>
            <a:r>
              <a:rPr lang="hu-HU" sz="1050" dirty="0" err="1">
                <a:solidFill>
                  <a:schemeClr val="bg1"/>
                </a:solidFill>
              </a:rPr>
              <a:t>shippingType</a:t>
            </a:r>
            <a:r>
              <a:rPr lang="hu-HU" sz="1050" dirty="0">
                <a:solidFill>
                  <a:schemeClr val="bg1"/>
                </a:solidFill>
              </a:rPr>
              <a:t> (VARCHAR)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 és autentikáció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B4CC"/>
                </a:solidFill>
              </a:rPr>
              <a:t>Hogyan védi a rendszer az adatokat és a felhasználókat?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23"/>
                </a:solidFill>
              </a:rPr>
              <a:t>Hitelesítési folyamat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7132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64008" cy="71323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</a:rPr>
              <a:t>Regisztráció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7552" y="181051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A jelszót bcrypt-tel hashelik (salttal), sosem </a:t>
            </a:r>
            <a:r>
              <a:rPr lang="en-US" sz="1100" dirty="0" err="1">
                <a:solidFill>
                  <a:srgbClr val="F0F8FF"/>
                </a:solidFill>
              </a:rPr>
              <a:t>kerül</a:t>
            </a:r>
            <a:r>
              <a:rPr lang="en-US" sz="1100" dirty="0">
                <a:solidFill>
                  <a:srgbClr val="F0F8FF"/>
                </a:solidFill>
              </a:rPr>
              <a:t> </a:t>
            </a:r>
            <a:r>
              <a:rPr lang="hu-HU" sz="1100" dirty="0">
                <a:solidFill>
                  <a:srgbClr val="F0F8FF"/>
                </a:solidFill>
              </a:rPr>
              <a:t>sima</a:t>
            </a:r>
            <a:r>
              <a:rPr lang="en-US" sz="1100" dirty="0">
                <a:solidFill>
                  <a:srgbClr val="F0F8FF"/>
                </a:solidFill>
              </a:rPr>
              <a:t> textként adatbázisba.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304288"/>
            <a:ext cx="4114800" cy="7132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64008" cy="71323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871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</a:rPr>
              <a:t>Bejelentkezés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265176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A szerver összehasonlítja a hash-t, majd session-t hoz létre a szerver memóriában / adatbázisban.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145536"/>
            <a:ext cx="4114800" cy="7132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320040" y="3145536"/>
            <a:ext cx="64008" cy="71323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2841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552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</a:rPr>
              <a:t>Védett oldalak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87552" y="349300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Minden védett route-on middleware ellenőrzi, hogy érvényes session létezik-e.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3986784"/>
            <a:ext cx="4114800" cy="713232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3" name="Shape 18"/>
          <p:cNvSpPr/>
          <p:nvPr/>
        </p:nvSpPr>
        <p:spPr>
          <a:xfrm>
            <a:off x="320040" y="3986784"/>
            <a:ext cx="64008" cy="71323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696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7552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</a:rPr>
              <a:t>Kijelentkezés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87552" y="433425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A session törlése szerver oldalon, a cookie érvénytelenítése a kliensen.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75488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A9C9"/>
                </a:solidFill>
              </a:rPr>
              <a:t>Szerepkör-alapú hozzáférés (RBAC)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754880" y="1463040"/>
            <a:ext cx="4114800" cy="4754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9" name="Shape 23"/>
          <p:cNvSpPr/>
          <p:nvPr/>
        </p:nvSpPr>
        <p:spPr>
          <a:xfrm>
            <a:off x="4754880" y="1463040"/>
            <a:ext cx="64008" cy="47548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0" name="Text 24"/>
          <p:cNvSpPr/>
          <p:nvPr/>
        </p:nvSpPr>
        <p:spPr>
          <a:xfrm>
            <a:off x="4919472" y="1508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919472" y="17099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Saját foglalások, nyilvános oldalak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754880" y="2029968"/>
            <a:ext cx="4114800" cy="4754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3" name="Shape 27"/>
          <p:cNvSpPr/>
          <p:nvPr/>
        </p:nvSpPr>
        <p:spPr>
          <a:xfrm>
            <a:off x="4754880" y="2029968"/>
            <a:ext cx="64008" cy="47548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4" name="Text 28"/>
          <p:cNvSpPr/>
          <p:nvPr/>
        </p:nvSpPr>
        <p:spPr>
          <a:xfrm>
            <a:off x="4919472" y="2075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b="1" dirty="0" err="1">
                <a:solidFill>
                  <a:srgbClr val="1CA9C9"/>
                </a:solidFill>
                <a:latin typeface="Consolas" pitchFamily="34" charset="0"/>
              </a:rPr>
              <a:t>Borbely</a:t>
            </a:r>
            <a:endParaRPr lang="hu-HU" sz="1200" b="1" dirty="0">
              <a:solidFill>
                <a:srgbClr val="1CA9C9"/>
              </a:solidFill>
              <a:latin typeface="Consolas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919472" y="22768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user + beosztáskezelés, foglaláskezelés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754880" y="2596896"/>
            <a:ext cx="4114800" cy="4754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7" name="Shape 31"/>
          <p:cNvSpPr/>
          <p:nvPr/>
        </p:nvSpPr>
        <p:spPr>
          <a:xfrm>
            <a:off x="4754880" y="2596896"/>
            <a:ext cx="64008" cy="47548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8" name="Text 32"/>
          <p:cNvSpPr/>
          <p:nvPr/>
        </p:nvSpPr>
        <p:spPr>
          <a:xfrm>
            <a:off x="4919472" y="2642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4919472" y="28437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Teljes rendszerhozzáférés, user kezelés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754880" y="3255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9C9"/>
                </a:solidFill>
              </a:rPr>
              <a:t>Alkalmazott biztonsági elvek: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475488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✔  Jelszóhashing: bcrypt + automatikus salt-generálás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754880" y="3886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✔  SQL injection védelem: Prisma paraméteres lekérdezések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75488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✔  Session fixation elleni védelem: session regenerálás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4754880" y="4379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✔  CSRF védelem: form-token validáció (POST kéréseknél)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754880" y="46268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</a:rPr>
              <a:t>✔  .env fájl: titkos kulcsok verziókezelésen kívül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7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Alkalmazás funkciói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64008" cy="1188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350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</a:rPr>
              <a:t>Regisztráció és bejelentkezés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" y="1481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E-mail alapú fiók, bcrypt hash jelszó, session autentikáció, automatikus átirányítás szerepkör szerint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18304" y="1005840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4718304" y="1005840"/>
            <a:ext cx="64008" cy="118872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3350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95544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</a:rPr>
              <a:t>Időpontfoglalás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95544" y="1481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Valós idejű szabad slot-lista, foglalás rögzítése, módosítása és lemondása bármikor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56032" y="2350008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16" name="Shape 12"/>
          <p:cNvSpPr/>
          <p:nvPr/>
        </p:nvSpPr>
        <p:spPr>
          <a:xfrm>
            <a:off x="256032" y="2350008"/>
            <a:ext cx="64008" cy="1188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67919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441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0F8FF"/>
                </a:solidFill>
              </a:rPr>
              <a:t>Webshop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33272" y="2825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DB4CC"/>
                </a:solidFill>
              </a:rPr>
              <a:t>Ügyféloldali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felület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borbély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termékek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böngészésére</a:t>
            </a:r>
            <a:r>
              <a:rPr lang="en-US" sz="1100" dirty="0">
                <a:solidFill>
                  <a:srgbClr val="8DB4CC"/>
                </a:solidFill>
              </a:rPr>
              <a:t>, </a:t>
            </a:r>
            <a:r>
              <a:rPr lang="en-US" sz="1100" dirty="0" err="1">
                <a:solidFill>
                  <a:srgbClr val="8DB4CC"/>
                </a:solidFill>
              </a:rPr>
              <a:t>kosár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funkcióval</a:t>
            </a:r>
            <a:r>
              <a:rPr lang="en-US" sz="1100" dirty="0">
                <a:solidFill>
                  <a:srgbClr val="8DB4CC"/>
                </a:solidFill>
              </a:rPr>
              <a:t>, </a:t>
            </a:r>
            <a:r>
              <a:rPr lang="en-US" sz="1100" dirty="0" err="1">
                <a:solidFill>
                  <a:srgbClr val="8DB4CC"/>
                </a:solidFill>
              </a:rPr>
              <a:t>rendelés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leadással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és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fizetési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státusz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en-US" sz="1100" dirty="0" err="1">
                <a:solidFill>
                  <a:srgbClr val="8DB4CC"/>
                </a:solidFill>
              </a:rPr>
              <a:t>követéssel</a:t>
            </a:r>
            <a:r>
              <a:rPr lang="en-US" sz="1100" dirty="0">
                <a:solidFill>
                  <a:srgbClr val="8DB4CC"/>
                </a:solidFill>
              </a:rPr>
              <a:t>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18304" y="2350008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6"/>
          <p:cNvSpPr/>
          <p:nvPr/>
        </p:nvSpPr>
        <p:spPr>
          <a:xfrm>
            <a:off x="4718304" y="2350008"/>
            <a:ext cx="64008" cy="118872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67919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95544" y="2441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</a:rPr>
              <a:t>Adminisztrátori panel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95544" y="2825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Foglalások jóváhagyása / elutasítása, személyzet menedzsment, teljes rendszer-áttekintés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56032" y="3694176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0"/>
          <p:cNvSpPr/>
          <p:nvPr/>
        </p:nvSpPr>
        <p:spPr>
          <a:xfrm>
            <a:off x="256032" y="3694176"/>
            <a:ext cx="64008" cy="118872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2336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3272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</a:rPr>
              <a:t>Playwright E2E tesztelés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33272" y="4169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DB4CC"/>
                </a:solidFill>
              </a:rPr>
              <a:t>Automatizált</a:t>
            </a:r>
            <a:r>
              <a:rPr lang="en-US" sz="1100" dirty="0">
                <a:solidFill>
                  <a:srgbClr val="8DB4CC"/>
                </a:solidFill>
              </a:rPr>
              <a:t> </a:t>
            </a:r>
            <a:r>
              <a:rPr lang="hu-HU" sz="1100" dirty="0">
                <a:solidFill>
                  <a:srgbClr val="8DB4CC"/>
                </a:solidFill>
              </a:rPr>
              <a:t>end-</a:t>
            </a:r>
            <a:r>
              <a:rPr lang="hu-HU" sz="1100" dirty="0" err="1">
                <a:solidFill>
                  <a:srgbClr val="8DB4CC"/>
                </a:solidFill>
              </a:rPr>
              <a:t>to</a:t>
            </a:r>
            <a:r>
              <a:rPr lang="hu-HU" sz="1100" dirty="0">
                <a:solidFill>
                  <a:srgbClr val="8DB4CC"/>
                </a:solidFill>
              </a:rPr>
              <a:t>-end</a:t>
            </a:r>
            <a:r>
              <a:rPr lang="en-US" sz="1100" dirty="0">
                <a:solidFill>
                  <a:srgbClr val="8DB4CC"/>
                </a:solidFill>
              </a:rPr>
              <a:t> tesztek, böngészőalapú szimuláció, CI-ready tesztcsomag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18304" y="3694176"/>
            <a:ext cx="416052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1" name="Shape 24"/>
          <p:cNvSpPr/>
          <p:nvPr/>
        </p:nvSpPr>
        <p:spPr>
          <a:xfrm>
            <a:off x="4718304" y="3694176"/>
            <a:ext cx="64008" cy="118872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402336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95544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</a:rPr>
              <a:t>Reszponzív felület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95544" y="4169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4CC"/>
                </a:solidFill>
              </a:rPr>
              <a:t>EJS + CSS – mobiloptimalizált elrendezés, flexbox layout, minden képernyőméreten használható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8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itle"/>
          <p:cNvSpPr/>
          <p:nvPr/>
        </p:nvSpPr>
        <p:spPr>
          <a:xfrm>
            <a:off x="384048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600" b="1" dirty="0">
                <a:solidFill>
                  <a:srgbClr val="F0F8FF"/>
                </a:solidFill>
                <a:latin typeface="Calibri" pitchFamily="34" charset="0"/>
              </a:rPr>
              <a:t>Munkamegosztás – Ki mit csinált?</a:t>
            </a:r>
          </a:p>
        </p:txBody>
      </p:sp>
      <p:sp>
        <p:nvSpPr>
          <p:cNvPr id="5" name="Sub"/>
          <p:cNvSpPr/>
          <p:nvPr/>
        </p:nvSpPr>
        <p:spPr>
          <a:xfrm>
            <a:off x="384048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i="1" dirty="0">
                <a:solidFill>
                  <a:srgbClr val="8DB4CC"/>
                </a:solidFill>
              </a:rPr>
              <a:t>A fejlesztés két egyenlő részre osztódott – mindenki a saját területén dolgozott</a:t>
            </a:r>
          </a:p>
        </p:txBody>
      </p:sp>
      <p:sp>
        <p:nvSpPr>
          <p:cNvPr id="10" name="BB"/>
          <p:cNvSpPr/>
          <p:nvPr/>
        </p:nvSpPr>
        <p:spPr>
          <a:xfrm>
            <a:off x="274320" y="1005840"/>
            <a:ext cx="3977640" cy="3838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BA"/>
          <p:cNvSpPr/>
          <p:nvPr/>
        </p:nvSpPr>
        <p:spPr>
          <a:xfrm>
            <a:off x="274320" y="1005840"/>
            <a:ext cx="3977640" cy="6400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BN"/>
          <p:cNvSpPr/>
          <p:nvPr/>
        </p:nvSpPr>
        <p:spPr>
          <a:xfrm>
            <a:off x="411480" y="1087560"/>
            <a:ext cx="3703320" cy="33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ctr"/>
          <a:lstStyle/>
          <a:p>
            <a:pPr marL="0" indent="0">
              <a:buNone/>
            </a:pPr>
            <a:r>
              <a:rPr lang="hu-HU" sz="2000" b="1" dirty="0">
                <a:solidFill>
                  <a:srgbClr val="1CA9C9"/>
                </a:solidFill>
                <a:latin typeface="Calibri" pitchFamily="34" charset="0"/>
              </a:rPr>
              <a:t>Németh Bence</a:t>
            </a:r>
          </a:p>
        </p:txBody>
      </p:sp>
      <p:sp>
        <p:nvSpPr>
          <p:cNvPr id="13" name="BR"/>
          <p:cNvSpPr/>
          <p:nvPr/>
        </p:nvSpPr>
        <p:spPr>
          <a:xfrm>
            <a:off x="411480" y="1407560"/>
            <a:ext cx="370332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hu-HU" sz="1100" i="1" dirty="0">
                <a:solidFill>
                  <a:srgbClr val="F4A623"/>
                </a:solidFill>
              </a:rPr>
              <a:t>Backend fejlesztő &amp; projektgazda</a:t>
            </a:r>
          </a:p>
        </p:txBody>
      </p:sp>
      <p:sp>
        <p:nvSpPr>
          <p:cNvPr id="14" name="BT"/>
          <p:cNvSpPr/>
          <p:nvPr/>
        </p:nvSpPr>
        <p:spPr>
          <a:xfrm>
            <a:off x="411480" y="1700000"/>
            <a:ext cx="3703320" cy="2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Express.js szerver és routing felépítése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Prisma ORM integráció és adatbázis séma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Autentikáció: bcrypt, session kezelés, RBAC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REST API végpontok: foglalás, admin, felhasználó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GitHub repo kezelése, commit-ok, PR review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Playwright E2E tesztek megírása és futtatása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Projektstruktúra, .env kezelés, deployment előkészítés</a:t>
            </a:r>
          </a:p>
        </p:txBody>
      </p:sp>
      <p:sp>
        <p:nvSpPr>
          <p:cNvPr id="20" name="TB"/>
          <p:cNvSpPr/>
          <p:nvPr/>
        </p:nvSpPr>
        <p:spPr>
          <a:xfrm>
            <a:off x="4892040" y="1005840"/>
            <a:ext cx="3977640" cy="383832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1" name="TA"/>
          <p:cNvSpPr/>
          <p:nvPr/>
        </p:nvSpPr>
        <p:spPr>
          <a:xfrm>
            <a:off x="4892040" y="1005840"/>
            <a:ext cx="3977640" cy="6400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2" name="TN"/>
          <p:cNvSpPr/>
          <p:nvPr/>
        </p:nvSpPr>
        <p:spPr>
          <a:xfrm>
            <a:off x="5029200" y="1087560"/>
            <a:ext cx="3703320" cy="330000"/>
          </a:xfrm>
          <a:prstGeom prst="rect">
            <a:avLst/>
          </a:prstGeom>
          <a:noFill/>
          <a:ln/>
        </p:spPr>
        <p:txBody>
          <a:bodyPr wrap="square" lIns="91440" tIns="45720" rIns="91440" bIns="0" rtlCol="0" anchor="ctr"/>
          <a:lstStyle/>
          <a:p>
            <a:pPr marL="0" indent="0">
              <a:buNone/>
            </a:pPr>
            <a:r>
              <a:rPr lang="hu-HU" sz="2000" b="1" dirty="0">
                <a:solidFill>
                  <a:srgbClr val="F4A623"/>
                </a:solidFill>
                <a:latin typeface="Calibri" pitchFamily="34" charset="0"/>
              </a:rPr>
              <a:t>Mesteri Tibor</a:t>
            </a:r>
          </a:p>
        </p:txBody>
      </p:sp>
      <p:sp>
        <p:nvSpPr>
          <p:cNvPr id="23" name="TR"/>
          <p:cNvSpPr/>
          <p:nvPr/>
        </p:nvSpPr>
        <p:spPr>
          <a:xfrm>
            <a:off x="5029200" y="1407560"/>
            <a:ext cx="370332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hu-HU" sz="1100" i="1" dirty="0">
                <a:solidFill>
                  <a:srgbClr val="1CA9C9"/>
                </a:solidFill>
              </a:rPr>
              <a:t>Frontend fejlesztő &amp; UI/UX tervező</a:t>
            </a:r>
          </a:p>
        </p:txBody>
      </p:sp>
      <p:sp>
        <p:nvSpPr>
          <p:cNvPr id="24" name="TT"/>
          <p:cNvSpPr/>
          <p:nvPr/>
        </p:nvSpPr>
        <p:spPr>
          <a:xfrm>
            <a:off x="5029200" y="1700000"/>
            <a:ext cx="3703320" cy="2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EJS view template-ek tervezése és megírása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CSS stíluslapok, reszponzív elrendezés (flexbox)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Kliensoldali JavaScript: form validáció, interakciók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Mobilbarát UI minden szerepkörhöz (ügyfél / borbély / admin)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Adatbázis SQL-scriptek és seed adatok előkészítése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Hibaüzenetek, felhasználói visszajelzések tervezése</a:t>
            </a:r>
          </a:p>
          <a:p>
            <a:pPr marL="228600" indent="-228600">
              <a:buChar char="▸"/>
            </a:pPr>
            <a:r>
              <a:rPr lang="hu-HU" sz="1150" dirty="0">
                <a:solidFill>
                  <a:srgbClr val="F0F8FF"/>
                </a:solidFill>
              </a:rPr>
              <a:t>Manuális tesztelés, dokumentáció, UX finomhangolás</a:t>
            </a:r>
          </a:p>
        </p:txBody>
      </p:sp>
      <p:sp>
        <p:nvSpPr>
          <p:cNvPr id="30" name="FB"/>
          <p:cNvSpPr/>
          <p:nvPr/>
        </p:nvSpPr>
        <p:spPr>
          <a:xfrm>
            <a:off x="274320" y="4935600"/>
            <a:ext cx="8595360" cy="1461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1" name="FA"/>
          <p:cNvSpPr/>
          <p:nvPr/>
        </p:nvSpPr>
        <p:spPr>
          <a:xfrm>
            <a:off x="274320" y="4935600"/>
            <a:ext cx="64008" cy="146160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2" name="FT"/>
          <p:cNvSpPr/>
          <p:nvPr/>
        </p:nvSpPr>
        <p:spPr>
          <a:xfrm>
            <a:off x="502920" y="4944744"/>
            <a:ext cx="783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900" i="1" dirty="0">
                <a:solidFill>
                  <a:srgbClr val="8DB4CC"/>
                </a:solidFill>
              </a:rPr>
              <a:t>github.com/bencewqe2/Projekt  •  21 commit  •  2 közreműködő  •  main branch</a:t>
            </a:r>
          </a:p>
        </p:txBody>
      </p:sp>
      <p:sp>
        <p:nvSpPr>
          <p:cNvPr id="99" name="Num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9 / 13</a:t>
            </a:r>
          </a:p>
        </p:txBody>
      </p:sp>
    </p:spTree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 – Playwright E2E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B4CC"/>
                </a:solidFill>
              </a:rPr>
              <a:t>Automatizált böngészőalapú tesztek a kritikus folyamatokhoz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4533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274320" y="1545336"/>
            <a:ext cx="64008" cy="12618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89280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16367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Regisztráció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0976" y="200253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Sikeres és hibás regisztráció, validációs üzenetek, duplikált email kezelése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27832" y="154533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3227832" y="1545336"/>
            <a:ext cx="64008" cy="12618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8928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04488" y="16367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Bejelentkezés / kilép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04488" y="200253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Helyes/helytelen hitelesítők, session fenntartása, biztonságos kijelentkezés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81344" y="154533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181344" y="1545336"/>
            <a:ext cx="64008" cy="12618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89280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6367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Időpont foglalás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0" y="200253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Szabad slot keresés, foglalás rögzítése, visszaigazolás megjelenése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296265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18"/>
          <p:cNvSpPr/>
          <p:nvPr/>
        </p:nvSpPr>
        <p:spPr>
          <a:xfrm>
            <a:off x="274320" y="2962656"/>
            <a:ext cx="64008" cy="12618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31012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" y="30540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Foglalások listája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50976" y="34198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Saját foglalások megjelenítése, szűrés státusz szerint, módosítás UI-on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27832" y="296265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" name="Shape 22"/>
          <p:cNvSpPr/>
          <p:nvPr/>
        </p:nvSpPr>
        <p:spPr>
          <a:xfrm>
            <a:off x="3227832" y="2962656"/>
            <a:ext cx="64008" cy="12618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310128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04488" y="30540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Admin jogosultság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904488" y="34198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Nem admin felhasználóval admin oldalra navigálás → 403 hiba ellenőrzése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181344" y="2962656"/>
            <a:ext cx="2788920" cy="12618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Shape 26"/>
          <p:cNvSpPr/>
          <p:nvPr/>
        </p:nvSpPr>
        <p:spPr>
          <a:xfrm>
            <a:off x="6181344" y="2962656"/>
            <a:ext cx="64008" cy="12618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310128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30540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8FF"/>
                </a:solidFill>
              </a:rPr>
              <a:t>Szolgáltatás CRUD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858000" y="34198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Admin felületről: új felvitele, adatok szerkesztése, törlés és listás visszaellenőrzés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Futtatás: npx playwright test  •  Konfiguráció: playwright.config.js  •  Böngésző: Chromium (alapértelmezett)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10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Fejlesztői workflow és eszközök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23"/>
                </a:solidFill>
              </a:rPr>
              <a:t>Fontos parancsok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64008" cy="5760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30352" y="1490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Fejlesztői szerver indítása nodemon-nal – változásra auto-reload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39696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64008" cy="5760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30352" y="21854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pull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Meglévő MariaDB adatbázis visszaolvasása schema.prisma-ba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64008" cy="5760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530352" y="28803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Schema.prisma változások alkalmazása az adatbázisra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64008" cy="5760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530352" y="35753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generate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Prisma TypeScript kliens újragenerálása minden sémaváltozás után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224528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64008" cy="576072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530352" y="42702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535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E2E tesztcsomag futtatása – összes eset, headless módban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23"/>
                </a:solidFill>
              </a:rPr>
              <a:t>Projekt fájlszerkezet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1444752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" name="Shape 26"/>
          <p:cNvSpPr/>
          <p:nvPr/>
        </p:nvSpPr>
        <p:spPr>
          <a:xfrm>
            <a:off x="4754880" y="1444752"/>
            <a:ext cx="64008" cy="5760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965192" y="1490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5192" y="1755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Fő forráskód: routes, controllers, views (EJS)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139696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2" name="Shape 30"/>
          <p:cNvSpPr/>
          <p:nvPr/>
        </p:nvSpPr>
        <p:spPr>
          <a:xfrm>
            <a:off x="4754880" y="2139696"/>
            <a:ext cx="64008" cy="5760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4965192" y="21854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/scripts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Segédscriptek: DB init, seed, automatizálás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6" name="Shape 34"/>
          <p:cNvSpPr/>
          <p:nvPr/>
        </p:nvSpPr>
        <p:spPr>
          <a:xfrm>
            <a:off x="4754880" y="2834640"/>
            <a:ext cx="64008" cy="5760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4965192" y="28803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65192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Playwright E2E tesztek – kritikus felhasználói folyamatok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529584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0" name="Shape 38"/>
          <p:cNvSpPr/>
          <p:nvPr/>
        </p:nvSpPr>
        <p:spPr>
          <a:xfrm>
            <a:off x="4754880" y="3529584"/>
            <a:ext cx="64008" cy="5760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4965192" y="35753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schema.prisma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65192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Adatbázis séma: modellek, mezők, relációk, ENUM-ok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4224528"/>
            <a:ext cx="4114800" cy="576072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4" name="Shape 42"/>
          <p:cNvSpPr/>
          <p:nvPr/>
        </p:nvSpPr>
        <p:spPr>
          <a:xfrm>
            <a:off x="4754880" y="4224528"/>
            <a:ext cx="64008" cy="576072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4965192" y="42702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65192" y="4535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DB kapcsolati string, session kulcs – NEM kerül verziókezelésbe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11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84048" y="7315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folyamat – Git és csapatmunka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42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DB4CC"/>
                </a:solidFill>
              </a:rPr>
              <a:t>A projekt GitHub-on van </a:t>
            </a:r>
            <a:r>
              <a:rPr lang="en-US" sz="1250" i="1" dirty="0" err="1">
                <a:solidFill>
                  <a:srgbClr val="8DB4CC"/>
                </a:solidFill>
              </a:rPr>
              <a:t>verziókezelve</a:t>
            </a:r>
            <a:r>
              <a:rPr lang="en-US" sz="1250" i="1" dirty="0">
                <a:solidFill>
                  <a:srgbClr val="8DB4CC"/>
                </a:solidFill>
              </a:rPr>
              <a:t>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536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23"/>
                </a:solidFill>
              </a:rPr>
              <a:t>Fejlesztési mérföldkövek: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84832" y="2359152"/>
            <a:ext cx="347472" cy="0"/>
          </a:xfrm>
          <a:prstGeom prst="line">
            <a:avLst/>
          </a:prstGeom>
          <a:noFill/>
          <a:ln w="19050">
            <a:solidFill>
              <a:srgbClr val="8DB4CC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256032" y="1993392"/>
            <a:ext cx="2011680" cy="280720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256032" y="1993392"/>
            <a:ext cx="64008" cy="280720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1005840" y="2084832"/>
            <a:ext cx="512064" cy="512064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100584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8FF"/>
                </a:solidFill>
              </a:rPr>
              <a:t>Tervezés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3127248"/>
            <a:ext cx="1828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Adatbázis séma megtervezése, API végpontok meghatározása, UI wireframe-ek, technológiai döntések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61104" y="2359152"/>
            <a:ext cx="347472" cy="0"/>
          </a:xfrm>
          <a:prstGeom prst="line">
            <a:avLst/>
          </a:prstGeom>
          <a:noFill/>
          <a:ln w="19050">
            <a:solidFill>
              <a:srgbClr val="8DB4CC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3"/>
          <p:cNvSpPr/>
          <p:nvPr/>
        </p:nvSpPr>
        <p:spPr>
          <a:xfrm>
            <a:off x="2432304" y="1993392"/>
            <a:ext cx="2011680" cy="280720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4"/>
          <p:cNvSpPr/>
          <p:nvPr/>
        </p:nvSpPr>
        <p:spPr>
          <a:xfrm>
            <a:off x="2432304" y="1993392"/>
            <a:ext cx="64008" cy="280720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8" name="Shape 15"/>
          <p:cNvSpPr/>
          <p:nvPr/>
        </p:nvSpPr>
        <p:spPr>
          <a:xfrm>
            <a:off x="3182112" y="2084832"/>
            <a:ext cx="512064" cy="512064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/>
          <p:nvPr/>
        </p:nvSpPr>
        <p:spPr>
          <a:xfrm>
            <a:off x="318211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542032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8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42032" y="3127248"/>
            <a:ext cx="1828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Express.js szerver felépítése, Prisma ORM integrálása, REST API végpontok megírása és tesztelése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37376" y="2359152"/>
            <a:ext cx="347472" cy="0"/>
          </a:xfrm>
          <a:prstGeom prst="line">
            <a:avLst/>
          </a:prstGeom>
          <a:noFill/>
          <a:ln w="19050">
            <a:solidFill>
              <a:srgbClr val="8DB4CC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0"/>
          <p:cNvSpPr/>
          <p:nvPr/>
        </p:nvSpPr>
        <p:spPr>
          <a:xfrm>
            <a:off x="4608576" y="1993392"/>
            <a:ext cx="2011680" cy="280720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Shape 21"/>
          <p:cNvSpPr/>
          <p:nvPr/>
        </p:nvSpPr>
        <p:spPr>
          <a:xfrm>
            <a:off x="4608576" y="1993392"/>
            <a:ext cx="64008" cy="2807208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5" name="Shape 22"/>
          <p:cNvSpPr/>
          <p:nvPr/>
        </p:nvSpPr>
        <p:spPr>
          <a:xfrm>
            <a:off x="5358384" y="2084832"/>
            <a:ext cx="512064" cy="512064"/>
          </a:xfrm>
          <a:prstGeom prst="ellipse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6" name="Text 23"/>
          <p:cNvSpPr/>
          <p:nvPr/>
        </p:nvSpPr>
        <p:spPr>
          <a:xfrm>
            <a:off x="5358384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718304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8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18304" y="3127248"/>
            <a:ext cx="1828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EJS view template-ek elkészítése, CSS stíluslapok, reszponzív elrendezés, form validáció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784848" y="1993392"/>
            <a:ext cx="2011680" cy="2807208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7"/>
          <p:cNvSpPr/>
          <p:nvPr/>
        </p:nvSpPr>
        <p:spPr>
          <a:xfrm>
            <a:off x="6784848" y="1993392"/>
            <a:ext cx="64008" cy="2807208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1" name="Shape 28"/>
          <p:cNvSpPr/>
          <p:nvPr/>
        </p:nvSpPr>
        <p:spPr>
          <a:xfrm>
            <a:off x="7534656" y="2084832"/>
            <a:ext cx="512064" cy="512064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2" name="Text 29"/>
          <p:cNvSpPr/>
          <p:nvPr/>
        </p:nvSpPr>
        <p:spPr>
          <a:xfrm>
            <a:off x="7534656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94576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8FF"/>
                </a:solidFill>
              </a:rPr>
              <a:t>Tesztelés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94576" y="3127248"/>
            <a:ext cx="1828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B4CC"/>
                </a:solidFill>
              </a:rPr>
              <a:t>Playwright tesztesetek megírása, manuális hibakeresés, teljesítmény-optimalizálás, refaktorálás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CC"/>
                </a:solidFill>
              </a:rPr>
              <a:t>Rep</a:t>
            </a:r>
            <a:r>
              <a:rPr lang="hu-HU" sz="1000" i="1" dirty="0">
                <a:solidFill>
                  <a:srgbClr val="8DB4CC"/>
                </a:solidFill>
              </a:rPr>
              <a:t>o</a:t>
            </a:r>
            <a:r>
              <a:rPr lang="en-US" sz="1000" i="1" dirty="0">
                <a:solidFill>
                  <a:srgbClr val="8DB4CC"/>
                </a:solidFill>
              </a:rPr>
              <a:t>: github.com/bencewqe2/Projekt  •  21 commit  •  2 pull request  •  2 közremuködo  •  main branch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12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1CA9C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1168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23408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8FF"/>
                </a:solidFill>
              </a:rPr>
              <a:t>✔  Teljes körű webes foglalási rendszer – valós borbélyszalon igényeire tervezve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7432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B4CC"/>
                </a:solidFill>
              </a:rPr>
              <a:t>✔  Modern stack: Node.js + Express + Prisma ORM + MariaDB + EJS + Playwright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1455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8FF"/>
                </a:solidFill>
              </a:rPr>
              <a:t>✔  Szerepkör-alapú hozzáférés-kezelés (ügyfél / személyzet / adminisztrátor)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5478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B4CC"/>
                </a:solidFill>
              </a:rPr>
              <a:t>✔  Biztonságos autentikáció: bcrypt jelszóhash, session kezelés, CSRF védelem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9502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8FF"/>
                </a:solidFill>
              </a:rPr>
              <a:t>✔  Automatizált E2E tesztelés Playwright-tal – megbízható, regressziómentes kód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3525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B4CC"/>
                </a:solidFill>
              </a:rPr>
              <a:t>✔  Verziókezelt fejlesztés Giten, 21 commit, 2 PR, tiszta MVC architektúra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645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 err="1">
                <a:solidFill>
                  <a:srgbClr val="1CA9C9"/>
                </a:solidFill>
              </a:rPr>
              <a:t>Köszön</a:t>
            </a:r>
            <a:r>
              <a:rPr lang="hu-HU" sz="1700" b="1" i="1" dirty="0" err="1">
                <a:solidFill>
                  <a:srgbClr val="1CA9C9"/>
                </a:solidFill>
              </a:rPr>
              <a:t>jük</a:t>
            </a:r>
            <a:r>
              <a:rPr lang="en-US" sz="1700" b="1" i="1" dirty="0">
                <a:solidFill>
                  <a:srgbClr val="1CA9C9"/>
                </a:solidFill>
              </a:rPr>
              <a:t> a figyelmet!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321040" y="4846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B4CC"/>
                </a:solidFill>
              </a:rPr>
              <a:t>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r>
              <a:rPr lang="en-US" sz="900" dirty="0">
                <a:solidFill>
                  <a:srgbClr val="8DB4CC"/>
                </a:solidFill>
              </a:rPr>
              <a:t> / 1</a:t>
            </a:r>
            <a:r>
              <a:rPr lang="hu-HU" sz="900" dirty="0">
                <a:solidFill>
                  <a:srgbClr val="8DB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1486</Words>
  <Application>Microsoft Office PowerPoint</Application>
  <PresentationFormat>On-screen Show (16:9)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Beach Barbershop – Vizsgaremek</dc:title>
  <dc:subject>PptxGenJS Presentation</dc:subject>
  <dc:creator>PptxGenJS</dc:creator>
  <cp:revision>25</cp:revision>
  <dcterms:created xsi:type="dcterms:W3CDTF">2026-02-24T15:43:56Z</dcterms:created>
  <dcterms:modified xsi:type="dcterms:W3CDTF">2026-04-21T19:45:20Z</dcterms:modified>
</cp:coreProperties>
</file>